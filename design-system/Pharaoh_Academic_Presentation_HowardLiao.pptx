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" cy="5394960"/>
          </a:xfrm>
          <a:prstGeom prst="rect">
            <a:avLst/>
          </a:prstGeom>
          <a:solidFill>
            <a:srgbClr val="D96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731520"/>
            <a:ext cx="73152" cy="1828800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2B5F6B"/>
                </a:solidFill>
                <a:latin typeface="Outfit"/>
              </a:defRPr>
            </a:pPr>
            <a:r>
              <a:t>STRATEGIC RESEARCH &amp; ARCHITECTURE DESIGN</a:t>
            </a:r>
          </a:p>
          <a:p>
            <a:pPr>
              <a:spcAft>
                <a:spcPts val="1200"/>
              </a:spcAft>
              <a:defRPr sz="3800" b="1">
                <a:solidFill>
                  <a:srgbClr val="D96B27"/>
                </a:solidFill>
                <a:latin typeface="Outfit"/>
              </a:defRPr>
            </a:pPr>
            <a:r>
              <a:t>埃及法老溫暖學術風格：全鏈路設計系統</a:t>
            </a:r>
          </a:p>
          <a:p>
            <a:pPr>
              <a:defRPr sz="1800">
                <a:solidFill>
                  <a:srgbClr val="1F2421"/>
                </a:solidFill>
                <a:latin typeface="Inter"/>
              </a:defRPr>
            </a:pPr>
            <a:r>
              <a:t>跨 PPT、Word、Google Docs 及 Web 前端的一致性視覺規範實踐架構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754880"/>
            <a:ext cx="5943600" cy="1005840"/>
          </a:xfrm>
          <a:prstGeom prst="roundRect">
            <a:avLst/>
          </a:prstGeom>
          <a:solidFill>
            <a:srgbClr val="FEF7E9"/>
          </a:solidFill>
          <a:ln w="1905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sz="1500" b="1">
                <a:solidFill>
                  <a:srgbClr val="D96B27"/>
                </a:solidFill>
                <a:latin typeface="Outfit"/>
              </a:defRPr>
            </a:pPr>
            <a:r>
              <a:t>報告人 Howard Liao Ph.D.(廖倫豪 博士)</a:t>
            </a:r>
          </a:p>
          <a:p>
            <a:pPr>
              <a:defRPr sz="1100">
                <a:solidFill>
                  <a:srgbClr val="2B5F6B"/>
                </a:solidFill>
                <a:latin typeface="Inter"/>
              </a:defRPr>
            </a:pPr>
            <a:r>
              <a:t>資深架構師 / 資訊安全長 / 數位轉型顧問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8DFD8"/>
          </a:solidFill>
          <a:ln>
            <a:solidFill>
              <a:srgbClr val="E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B726C"/>
                </a:solidFill>
                <a:latin typeface="Inter"/>
              </a:defRPr>
            </a:pPr>
            <a:r>
              <a:t>報告人 Howard Liao Ph.D.(廖倫豪 博士) | 專業戰略與學術研究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6C"/>
                </a:solidFill>
                <a:latin typeface="Inter"/>
              </a:defRPr>
            </a:pPr>
            <a:r>
              <a:t>2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5F6B"/>
                </a:solidFill>
                <a:latin typeface="Outfit"/>
              </a:defRPr>
            </a:pPr>
            <a:r>
              <a:t>DESIGN ARCHITECTURE</a:t>
            </a:r>
          </a:p>
          <a:p>
            <a:pPr>
              <a:defRPr sz="2600" b="1">
                <a:solidFill>
                  <a:srgbClr val="D96B27"/>
                </a:solidFill>
                <a:latin typeface="Outfit"/>
              </a:defRPr>
            </a:pPr>
            <a:r>
              <a:t>核心架構：四大一致性落地模組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468880" cy="384048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 wrap="square"/>
          <a:lstStyle/>
          <a:p>
            <a:pPr algn="ctr">
              <a:spcAft>
                <a:spcPts val="1000"/>
              </a:spcAft>
              <a:defRPr sz="2800" b="1">
                <a:solidFill>
                  <a:srgbClr val="E5A93C"/>
                </a:solidFill>
                <a:latin typeface="Outfit"/>
              </a:defRPr>
            </a:pPr>
            <a:r>
              <a:t>01</a:t>
            </a:r>
          </a:p>
          <a:p>
            <a:pPr>
              <a:spcAft>
                <a:spcPts val="1400"/>
              </a:spcAft>
              <a:defRPr sz="1600" b="1">
                <a:solidFill>
                  <a:srgbClr val="2B5F6B"/>
                </a:solidFill>
                <a:latin typeface="Outfit"/>
              </a:defRPr>
            </a:pPr>
            <a:r>
              <a:t>Design Tokens</a:t>
            </a:r>
          </a:p>
          <a:p>
            <a:pPr>
              <a:defRPr sz="1200">
                <a:solidFill>
                  <a:srgbClr val="1F2421"/>
                </a:solidFill>
                <a:latin typeface="Inter"/>
              </a:defRPr>
            </a:pPr>
            <a:r>
              <a:t>定義暖赭橙、綠松青、琥珀金與曜石灰階，統一 JSON 與 CSS 格式。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920240"/>
            <a:ext cx="2468880" cy="384048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 wrap="square"/>
          <a:lstStyle/>
          <a:p>
            <a:pPr algn="ctr">
              <a:spcAft>
                <a:spcPts val="1000"/>
              </a:spcAft>
              <a:defRPr sz="2800" b="1">
                <a:solidFill>
                  <a:srgbClr val="E5A93C"/>
                </a:solidFill>
                <a:latin typeface="Outfit"/>
              </a:defRPr>
            </a:pPr>
            <a:r>
              <a:t>02</a:t>
            </a:r>
          </a:p>
          <a:p>
            <a:pPr>
              <a:spcAft>
                <a:spcPts val="1400"/>
              </a:spcAft>
              <a:defRPr sz="1600" b="1">
                <a:solidFill>
                  <a:srgbClr val="2B5F6B"/>
                </a:solidFill>
                <a:latin typeface="Outfit"/>
              </a:defRPr>
            </a:pPr>
            <a:r>
              <a:t>Office Automation</a:t>
            </a:r>
          </a:p>
          <a:p>
            <a:pPr>
              <a:defRPr sz="1200">
                <a:solidFill>
                  <a:srgbClr val="1F2421"/>
                </a:solidFill>
                <a:latin typeface="Inter"/>
              </a:defRPr>
            </a:pPr>
            <a:r>
              <a:t>利用 python-pptx 與 python-docx 自動映射母片樣式與規格。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2468880" cy="384048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 wrap="square"/>
          <a:lstStyle/>
          <a:p>
            <a:pPr algn="ctr">
              <a:spcAft>
                <a:spcPts val="1000"/>
              </a:spcAft>
              <a:defRPr sz="2800" b="1">
                <a:solidFill>
                  <a:srgbClr val="E5A93C"/>
                </a:solidFill>
                <a:latin typeface="Outfit"/>
              </a:defRPr>
            </a:pPr>
            <a:r>
              <a:t>03</a:t>
            </a:r>
          </a:p>
          <a:p>
            <a:pPr>
              <a:spcAft>
                <a:spcPts val="1400"/>
              </a:spcAft>
              <a:defRPr sz="1600" b="1">
                <a:solidFill>
                  <a:srgbClr val="2B5F6B"/>
                </a:solidFill>
                <a:latin typeface="Outfit"/>
              </a:defRPr>
            </a:pPr>
            <a:r>
              <a:t>Web &amp; Components</a:t>
            </a:r>
          </a:p>
          <a:p>
            <a:pPr>
              <a:defRPr sz="1200">
                <a:solidFill>
                  <a:srgbClr val="1F2421"/>
                </a:solidFill>
                <a:latin typeface="Inter"/>
              </a:defRPr>
            </a:pPr>
            <a:r>
              <a:t>提供卡片、微細邊框、表格與柔和陰影的專屬 CSS/Tailwind 類別。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920240"/>
            <a:ext cx="2468880" cy="384048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 wrap="square"/>
          <a:lstStyle/>
          <a:p>
            <a:pPr algn="ctr">
              <a:spcAft>
                <a:spcPts val="1000"/>
              </a:spcAft>
              <a:defRPr sz="2800" b="1">
                <a:solidFill>
                  <a:srgbClr val="E5A93C"/>
                </a:solidFill>
                <a:latin typeface="Outfit"/>
              </a:defRPr>
            </a:pPr>
            <a:r>
              <a:t>04</a:t>
            </a:r>
          </a:p>
          <a:p>
            <a:pPr>
              <a:spcAft>
                <a:spcPts val="1400"/>
              </a:spcAft>
              <a:defRPr sz="1600" b="1">
                <a:solidFill>
                  <a:srgbClr val="2B5F6B"/>
                </a:solidFill>
                <a:latin typeface="Outfit"/>
              </a:defRPr>
            </a:pPr>
            <a:r>
              <a:t>Identity &amp; Sign-off</a:t>
            </a:r>
          </a:p>
          <a:p>
            <a:pPr>
              <a:defRPr sz="1200">
                <a:solidFill>
                  <a:srgbClr val="1F2421"/>
                </a:solidFill>
                <a:latin typeface="Inter"/>
              </a:defRPr>
            </a:pPr>
            <a:r>
              <a:t>統一封面、頁尾與標題階層，固化博士署名與高階學術權威感。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8DFD8"/>
          </a:solidFill>
          <a:ln>
            <a:solidFill>
              <a:srgbClr val="E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B726C"/>
                </a:solidFill>
                <a:latin typeface="Inter"/>
              </a:defRPr>
            </a:pPr>
            <a:r>
              <a:t>報告人 Howard Liao Ph.D.(廖倫豪 博士) | 專業戰略與學術研究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6C"/>
                </a:solidFill>
                <a:latin typeface="Inter"/>
              </a:defRPr>
            </a:pPr>
            <a:r>
              <a:t>3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5F6B"/>
                </a:solidFill>
                <a:latin typeface="Outfit"/>
              </a:defRPr>
            </a:pPr>
            <a:r>
              <a:t>CROSS-PLATFORM STANDARDIZATION</a:t>
            </a:r>
          </a:p>
          <a:p>
            <a:pPr>
              <a:defRPr sz="2600" b="1">
                <a:solidFill>
                  <a:srgbClr val="D96B27"/>
                </a:solidFill>
                <a:latin typeface="Outfit"/>
              </a:defRPr>
            </a:pPr>
            <a:r>
              <a:t>跨格式精確映射標準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3931920"/>
          </a:xfrm>
          <a:prstGeom prst="roundRect">
            <a:avLst/>
          </a:prstGeom>
          <a:solidFill>
            <a:srgbClr val="FAF7F2"/>
          </a:solidFill>
          <a:ln>
            <a:solidFill>
              <a:srgbClr val="E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spcAft>
                <a:spcPts val="1200"/>
              </a:spcAft>
              <a:defRPr sz="1800" b="1">
                <a:solidFill>
                  <a:srgbClr val="D96B27"/>
                </a:solidFill>
              </a:defRPr>
            </a:pPr>
            <a:r>
              <a:t>規範要點 (System Rules)</a:t>
            </a:r>
          </a:p>
          <a:p>
            <a:pPr>
              <a:spcAft>
                <a:spcPts val="800"/>
              </a:spcAft>
              <a:defRPr sz="1300">
                <a:solidFill>
                  <a:srgbClr val="1F2421"/>
                </a:solidFill>
                <a:latin typeface="Inter"/>
              </a:defRPr>
            </a:pPr>
            <a:r>
              <a:t>•  背景採用高雅純白與羊皮紙暖白，護眼且兼具極致列印友好性。</a:t>
            </a:r>
          </a:p>
          <a:p>
            <a:pPr>
              <a:spcAft>
                <a:spcPts val="800"/>
              </a:spcAft>
              <a:defRPr sz="1300">
                <a:solidFill>
                  <a:srgbClr val="1F2421"/>
                </a:solidFill>
                <a:latin typeface="Inter"/>
              </a:defRPr>
            </a:pPr>
            <a:r>
              <a:t>•  內文改用曜石深灰 (#1F2421)，徹底告別生硬刺眼的純黑字體。</a:t>
            </a:r>
          </a:p>
          <a:p>
            <a:pPr>
              <a:spcAft>
                <a:spcPts val="800"/>
              </a:spcAft>
              <a:defRPr sz="1300">
                <a:solidFill>
                  <a:srgbClr val="1F2421"/>
                </a:solidFill>
                <a:latin typeface="Inter"/>
              </a:defRPr>
            </a:pPr>
            <a:r>
              <a:t>•  圖表與標籤採用尼羅河綠松石青 (#2B5F6B)，塑造冷靜權威感。</a:t>
            </a:r>
          </a:p>
          <a:p>
            <a:pPr>
              <a:spcAft>
                <a:spcPts val="800"/>
              </a:spcAft>
              <a:defRPr sz="1300">
                <a:solidFill>
                  <a:srgbClr val="1F2421"/>
                </a:solidFill>
                <a:latin typeface="Inter"/>
              </a:defRPr>
            </a:pPr>
            <a:r>
              <a:t>•  所有重要決策點與核心 KPI 一律套用琥珀金 (#E5A93C) 亮點框。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3931920"/>
          </a:xfrm>
          <a:prstGeom prst="roundRect">
            <a:avLst/>
          </a:prstGeom>
          <a:solidFill>
            <a:srgbClr val="FEF7E9"/>
          </a:solidFill>
          <a:ln w="2540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spcAft>
                <a:spcPts val="1200"/>
              </a:spcAft>
              <a:defRPr sz="1800" b="1">
                <a:solidFill>
                  <a:srgbClr val="2B5F6B"/>
                </a:solidFill>
              </a:defRPr>
            </a:pPr>
            <a:r>
              <a:t>關鍵效益 (Strategic Value)</a:t>
            </a:r>
          </a:p>
          <a:p>
            <a:pPr>
              <a:spcAft>
                <a:spcPts val="800"/>
              </a:spcAft>
              <a:defRPr sz="1300">
                <a:solidFill>
                  <a:srgbClr val="1F2421"/>
                </a:solidFill>
                <a:latin typeface="Inter"/>
              </a:defRPr>
            </a:pPr>
            <a:r>
              <a:t>✔  100% 品牌語彙一致：無論是產出 PPT、Word 還是網頁，閱讀體驗全然一體。</a:t>
            </a:r>
          </a:p>
          <a:p>
            <a:pPr>
              <a:spcAft>
                <a:spcPts val="800"/>
              </a:spcAft>
              <a:defRPr sz="1300">
                <a:solidFill>
                  <a:srgbClr val="1F2421"/>
                </a:solidFill>
                <a:latin typeface="Inter"/>
              </a:defRPr>
            </a:pPr>
            <a:r>
              <a:t>✔  單一真實來源 (Single Source)：修改 DESIGN.md 即可透過管線連動更新所有模板。</a:t>
            </a:r>
          </a:p>
          <a:p>
            <a:pPr>
              <a:spcAft>
                <a:spcPts val="800"/>
              </a:spcAft>
              <a:defRPr sz="1300">
                <a:solidFill>
                  <a:srgbClr val="1F2421"/>
                </a:solidFill>
                <a:latin typeface="Inter"/>
              </a:defRPr>
            </a:pPr>
            <a:r>
              <a:t>✔  學術與顧問公信力：暖系法老色調帶來莊重、高品味與清晰的論證節奏。</a:t>
            </a:r>
          </a:p>
          <a:p>
            <a:pPr>
              <a:spcAft>
                <a:spcPts val="800"/>
              </a:spcAft>
              <a:defRPr sz="1300">
                <a:solidFill>
                  <a:srgbClr val="1F2421"/>
                </a:solidFill>
                <a:latin typeface="Inter"/>
              </a:defRPr>
            </a:pPr>
            <a:r>
              <a:t>✔  即時可自動化：由 HermesAgent 隨時調用 Python 腳本產生原生標準檔。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8DFD8"/>
          </a:solidFill>
          <a:ln>
            <a:solidFill>
              <a:srgbClr val="E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B726C"/>
                </a:solidFill>
                <a:latin typeface="Inter"/>
              </a:defRPr>
            </a:pPr>
            <a:r>
              <a:t>報告人 Howard Liao Ph.D.(廖倫豪 博士) | 專業戰略與學術研究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6C"/>
                </a:solidFill>
                <a:latin typeface="Inter"/>
              </a:defRPr>
            </a:pPr>
            <a:r>
              <a:t>4 /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1371600"/>
            <a:ext cx="8899855" cy="438912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0" lIns="457200" rIns="457200" wrap="square"/>
          <a:lstStyle/>
          <a:p>
            <a:pPr algn="ctr">
              <a:defRPr sz="1200" b="1">
                <a:solidFill>
                  <a:srgbClr val="2B5F6B"/>
                </a:solidFill>
              </a:defRPr>
            </a:pPr>
            <a:r>
              <a:t>CONCLUSION &amp; NEXT STEPS</a:t>
            </a:r>
          </a:p>
          <a:p>
            <a:pPr algn="ctr">
              <a:spcAft>
                <a:spcPts val="1600"/>
              </a:spcAft>
              <a:defRPr sz="3000" b="1">
                <a:solidFill>
                  <a:srgbClr val="D96B27"/>
                </a:solidFill>
              </a:defRPr>
            </a:pPr>
            <a:r>
              <a:t>全面啟動統一視覺規範</a:t>
            </a:r>
          </a:p>
          <a:p>
            <a:pPr algn="ctr">
              <a:spcAft>
                <a:spcPts val="3000"/>
              </a:spcAft>
              <a:defRPr sz="1500">
                <a:solidFill>
                  <a:srgbClr val="1F2421"/>
                </a:solidFill>
              </a:defRPr>
            </a:pPr>
            <a:r>
              <a:t>後續在 HermesAgent 生成的所有研究簡報、Word 分析專案、互動網頁與架構圖，</a:t>
            </a:r>
            <a:br/>
            <a:r>
              <a:t>皆自動遵從本埃及法老溫暖學術規範，實現最高品質的專業品牌一致性。</a:t>
            </a:r>
          </a:p>
          <a:p>
            <a:pPr algn="ctr">
              <a:defRPr sz="1800" b="1">
                <a:solidFill>
                  <a:srgbClr val="D96B27"/>
                </a:solidFill>
              </a:defRPr>
            </a:pPr>
            <a:r>
              <a:t>報告人 Howard Liao Ph.D.(廖倫豪 博士)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