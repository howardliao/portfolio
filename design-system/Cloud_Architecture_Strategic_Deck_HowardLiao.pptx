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" cy="5394960"/>
          </a:xfrm>
          <a:prstGeom prst="rect">
            <a:avLst/>
          </a:prstGeom>
          <a:solidFill>
            <a:srgbClr val="D96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731520"/>
            <a:ext cx="73152" cy="2011680"/>
          </a:xfrm>
          <a:prstGeom prst="rect">
            <a:avLst/>
          </a:prstGeom>
          <a:solidFill>
            <a:srgbClr val="E5A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B5F6B"/>
                </a:solidFill>
                <a:latin typeface="Outfit"/>
              </a:defRPr>
            </a:pPr>
            <a:r>
              <a:t>ENTERPRISE CLOUD STRATEGY &amp; GOVERNANCE</a:t>
            </a:r>
          </a:p>
          <a:p>
            <a:pPr>
              <a:spcAft>
                <a:spcPts val="1200"/>
              </a:spcAft>
              <a:defRPr sz="3800" b="1">
                <a:solidFill>
                  <a:srgbClr val="D96B27"/>
                </a:solidFill>
                <a:latin typeface="Outfit"/>
              </a:defRPr>
            </a:pPr>
            <a:r>
              <a:t>新世代企業混合多雲架構規劃</a:t>
            </a:r>
          </a:p>
          <a:p>
            <a:pPr>
              <a:defRPr sz="1800">
                <a:solidFill>
                  <a:srgbClr val="1F2421"/>
                </a:solidFill>
                <a:latin typeface="Inter"/>
              </a:defRPr>
            </a:pPr>
            <a:r>
              <a:t>高可用性、彈性擴展與 FinOps 成本最佳化的現代化雲端落地藍圖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54880"/>
            <a:ext cx="6217920" cy="1051560"/>
          </a:xfrm>
          <a:prstGeom prst="roundRect">
            <a:avLst/>
          </a:prstGeom>
          <a:solidFill>
            <a:srgbClr val="FEF7E9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D96B27"/>
                </a:solidFill>
                <a:latin typeface="Outfit"/>
              </a:defRPr>
            </a:pPr>
            <a:r>
              <a:t>報告人 Howard Liao Ph.D.(廖倫豪 博士)</a:t>
            </a:r>
          </a:p>
          <a:p>
            <a:pPr>
              <a:defRPr sz="1100">
                <a:solidFill>
                  <a:srgbClr val="2B5F6B"/>
                </a:solidFill>
                <a:latin typeface="Inter"/>
              </a:defRPr>
            </a:pPr>
            <a:r>
              <a:t>資深雲端架構師 / 資訊工程博士  |  2026 戰略規劃專案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企業級混合多雲架構戰略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5F6B"/>
                </a:solidFill>
                <a:latin typeface="Outfit"/>
              </a:defRPr>
            </a:pPr>
            <a:r>
              <a:t>WELL-ARCHITECTED FRAMEWORK</a:t>
            </a:r>
          </a:p>
          <a:p>
            <a:pPr>
              <a:defRPr sz="2600" b="1">
                <a:solidFill>
                  <a:srgbClr val="D96B27"/>
                </a:solidFill>
                <a:latin typeface="Outfit"/>
              </a:defRPr>
            </a:pPr>
            <a:r>
              <a:t>雲端架構五大支柱與治理矩陣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993392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wrap="square"/>
          <a:lstStyle/>
          <a:p>
            <a:pPr algn="ctr">
              <a:spcAft>
                <a:spcPts val="800"/>
              </a:spcAft>
              <a:defRPr sz="2400" b="1">
                <a:solidFill>
                  <a:srgbClr val="E5A93C"/>
                </a:solidFill>
                <a:latin typeface="Outfit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400" b="1">
                <a:solidFill>
                  <a:srgbClr val="2B5F6B"/>
                </a:solidFill>
                <a:latin typeface="Outfit"/>
              </a:defRPr>
            </a:pPr>
            <a:r>
              <a:t>卓越營運 (Ops)</a:t>
            </a:r>
          </a:p>
          <a:p>
            <a:pPr>
              <a:defRPr sz="1100">
                <a:solidFill>
                  <a:srgbClr val="1F2421"/>
                </a:solidFill>
                <a:latin typeface="Inter"/>
              </a:defRPr>
            </a:pPr>
            <a:r>
              <a:t>基礎架構即程式碼 (IaC)，端到端 CI/CD 全自動部署與微服務觀測。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920240"/>
            <a:ext cx="1993392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wrap="square"/>
          <a:lstStyle/>
          <a:p>
            <a:pPr algn="ctr">
              <a:spcAft>
                <a:spcPts val="800"/>
              </a:spcAft>
              <a:defRPr sz="2400" b="1">
                <a:solidFill>
                  <a:srgbClr val="E5A93C"/>
                </a:solidFill>
                <a:latin typeface="Outfit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400" b="1">
                <a:solidFill>
                  <a:srgbClr val="2B5F6B"/>
                </a:solidFill>
                <a:latin typeface="Outfit"/>
              </a:defRPr>
            </a:pPr>
            <a:r>
              <a:t>安全性 (Security)</a:t>
            </a:r>
          </a:p>
          <a:p>
            <a:pPr>
              <a:defRPr sz="1100">
                <a:solidFill>
                  <a:srgbClr val="1F2421"/>
                </a:solidFill>
                <a:latin typeface="Inter"/>
              </a:defRPr>
            </a:pPr>
            <a:r>
              <a:t>零信任身份鑑別、密鑰統一金庫 (Vault) 管理與靜態/傳輸全面加密。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920240"/>
            <a:ext cx="1993392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wrap="square"/>
          <a:lstStyle/>
          <a:p>
            <a:pPr algn="ctr">
              <a:spcAft>
                <a:spcPts val="800"/>
              </a:spcAft>
              <a:defRPr sz="2400" b="1">
                <a:solidFill>
                  <a:srgbClr val="E5A93C"/>
                </a:solidFill>
                <a:latin typeface="Outfit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400" b="1">
                <a:solidFill>
                  <a:srgbClr val="2B5F6B"/>
                </a:solidFill>
                <a:latin typeface="Outfit"/>
              </a:defRPr>
            </a:pPr>
            <a:r>
              <a:t>高可用可靠性 (Resilience)</a:t>
            </a:r>
          </a:p>
          <a:p>
            <a:pPr>
              <a:defRPr sz="1100">
                <a:solidFill>
                  <a:srgbClr val="1F2421"/>
                </a:solidFill>
                <a:latin typeface="Inter"/>
              </a:defRPr>
            </a:pPr>
            <a:r>
              <a:t>跨區域多活容災架構 (Active-Active)、自動水平彈性伸縮 (HPA)。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920240"/>
            <a:ext cx="1993392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wrap="square"/>
          <a:lstStyle/>
          <a:p>
            <a:pPr algn="ctr">
              <a:spcAft>
                <a:spcPts val="800"/>
              </a:spcAft>
              <a:defRPr sz="2400" b="1">
                <a:solidFill>
                  <a:srgbClr val="E5A93C"/>
                </a:solidFill>
                <a:latin typeface="Outfit"/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400" b="1">
                <a:solidFill>
                  <a:srgbClr val="2B5F6B"/>
                </a:solidFill>
                <a:latin typeface="Outfit"/>
              </a:defRPr>
            </a:pPr>
            <a:r>
              <a:t>效能效率 (Efficiency)</a:t>
            </a:r>
          </a:p>
          <a:p>
            <a:pPr>
              <a:defRPr sz="1100">
                <a:solidFill>
                  <a:srgbClr val="1F2421"/>
                </a:solidFill>
                <a:latin typeface="Inter"/>
              </a:defRPr>
            </a:pPr>
            <a:r>
              <a:t>無伺服器架構 (Serverless)、全球邊緣 CDN 加速與微服務容器化。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6608" y="1920240"/>
            <a:ext cx="1993392" cy="3931920"/>
          </a:xfrm>
          <a:prstGeom prst="roundRect">
            <a:avLst/>
          </a:prstGeom>
          <a:solidFill>
            <a:srgbClr val="FAF7F2"/>
          </a:solidFill>
          <a:ln w="12700"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wrap="square"/>
          <a:lstStyle/>
          <a:p>
            <a:pPr algn="ctr">
              <a:spcAft>
                <a:spcPts val="800"/>
              </a:spcAft>
              <a:defRPr sz="2400" b="1">
                <a:solidFill>
                  <a:srgbClr val="E5A93C"/>
                </a:solidFill>
                <a:latin typeface="Outfit"/>
              </a:defRPr>
            </a:pPr>
            <a:r>
              <a:t>05</a:t>
            </a:r>
          </a:p>
          <a:p>
            <a:pPr>
              <a:spcAft>
                <a:spcPts val="1200"/>
              </a:spcAft>
              <a:defRPr sz="1400" b="1">
                <a:solidFill>
                  <a:srgbClr val="2B5F6B"/>
                </a:solidFill>
                <a:latin typeface="Outfit"/>
              </a:defRPr>
            </a:pPr>
            <a:r>
              <a:t>FinOps 成本優化</a:t>
            </a:r>
          </a:p>
          <a:p>
            <a:pPr>
              <a:defRPr sz="1100">
                <a:solidFill>
                  <a:srgbClr val="1F2421"/>
                </a:solidFill>
                <a:latin typeface="Inter"/>
              </a:defRPr>
            </a:pPr>
            <a:r>
              <a:t>精確標籤 (Tagging)、雲端保留容量採購與動態負載調度減省 35%+。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企業級混合多雲架構戰略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5F6B"/>
                </a:solidFill>
              </a:defRPr>
            </a:pPr>
            <a:r>
              <a:t>MODERN CLOUD TOPOLOGY</a:t>
            </a:r>
          </a:p>
          <a:p>
            <a:pPr>
              <a:defRPr sz="2600" b="1">
                <a:solidFill>
                  <a:srgbClr val="D96B27"/>
                </a:solidFill>
              </a:defRPr>
            </a:pPr>
            <a:r>
              <a:t>地端核心與多雲彈性拓撲分工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3931920"/>
          </a:xfrm>
          <a:prstGeom prst="roundRect">
            <a:avLst/>
          </a:prstGeom>
          <a:solidFill>
            <a:srgbClr val="FAF7F2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D96B27"/>
                </a:solidFill>
              </a:defRPr>
            </a:pPr>
            <a:r>
              <a:t>地端私有核心 (On-Premises / Private)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核心機敏資料庫與法規監管資料存儲（金融/個資合規隔離）。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超低延遲專線 Direct Connect / ExpressRoute 互連。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自建 Kubernetes 叢集 (OpenShift/Rancher) 運行關鍵核心交易。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•  硬體安全模組 (HSM) 實體金鑰託管與私有金鑰隔離。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3931920"/>
          </a:xfrm>
          <a:prstGeom prst="roundRect">
            <a:avLst/>
          </a:prstGeom>
          <a:solidFill>
            <a:srgbClr val="FEF7E9"/>
          </a:solidFill>
          <a:ln w="2540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2B5F6B"/>
                </a:solidFill>
              </a:defRPr>
            </a:pPr>
            <a:r>
              <a:t>公有雲彈性層 (Multi-Cloud Elastic Tier)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面對千萬用戶的邊緣端點、動態網站與 API Gateway 集群。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AI/ML 大規模分散式訓練與大數據批次計算彈性節點。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跨區域跨可用區 (Multi-AZ) 自動故障轉移與冷熱資料分層存儲。</a:t>
            </a:r>
          </a:p>
          <a:p>
            <a:pPr>
              <a:spcAft>
                <a:spcPts val="800"/>
              </a:spcAft>
              <a:defRPr sz="1300">
                <a:solidFill>
                  <a:srgbClr val="1F2421"/>
                </a:solidFill>
                <a:latin typeface="Inter"/>
              </a:defRPr>
            </a:pPr>
            <a:r>
              <a:t>✔  FinOps 動態 Spot / Reserved Instance 智能調度降低支出。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8DFD8"/>
          </a:solidFill>
          <a:ln>
            <a:solidFill>
              <a:srgbClr val="E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6C"/>
                </a:solidFill>
                <a:latin typeface="Inter"/>
              </a:defRPr>
            </a:pPr>
            <a:r>
              <a:t>報告人 Howard Liao Ph.D.(廖倫豪 博士) | 企業級混合多雲架構戰略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6C"/>
                </a:solidFill>
                <a:latin typeface="Inter"/>
              </a:defRPr>
            </a:pPr>
            <a:r>
              <a:t>4 /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448495" cy="4572000"/>
          </a:xfrm>
          <a:prstGeom prst="roundRect">
            <a:avLst/>
          </a:prstGeom>
          <a:solidFill>
            <a:srgbClr val="FAF7F2"/>
          </a:solidFill>
          <a:ln w="19050">
            <a:solidFill>
              <a:srgbClr val="E5A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 lIns="548640" rIns="548640" wrap="square"/>
          <a:lstStyle/>
          <a:p>
            <a:pPr algn="ctr">
              <a:defRPr sz="1200" b="1">
                <a:solidFill>
                  <a:srgbClr val="2B5F6B"/>
                </a:solidFill>
              </a:defRPr>
            </a:pPr>
            <a:r>
              <a:t>IMPLEMENTATION ROADMAP &amp; COMMITMENT</a:t>
            </a:r>
          </a:p>
          <a:p>
            <a:pPr algn="ctr">
              <a:spcAft>
                <a:spcPts val="1800"/>
              </a:spcAft>
              <a:defRPr sz="2800" b="1">
                <a:solidFill>
                  <a:srgbClr val="D96B27"/>
                </a:solidFill>
              </a:defRPr>
            </a:pPr>
            <a:r>
              <a:t>三階段雲端轉型推動路徑</a:t>
            </a:r>
          </a:p>
          <a:p>
            <a:pPr algn="ctr">
              <a:spcAft>
                <a:spcPts val="2600"/>
              </a:spcAft>
              <a:defRPr sz="1400">
                <a:solidFill>
                  <a:srgbClr val="1F2421"/>
                </a:solidFill>
              </a:defRPr>
            </a:pPr>
            <a:r>
              <a:t>【第 1 階段：地基加固】雲端登陸區 (Landing Zone) 規格固化與網路混合專線建立</a:t>
            </a:r>
            <a:br/>
            <a:r>
              <a:t>【第 2 階段：容器現代化】應用微服務解耦、CI/CD 自動化與 FinOps 成本可視化</a:t>
            </a:r>
            <a:br/>
            <a:r>
              <a:t>【第 3 階段：智慧雲原生】AI Agent 深度融合、多雲動態負載平衡與自癒容災</a:t>
            </a:r>
          </a:p>
          <a:p>
            <a:pPr algn="ctr">
              <a:defRPr sz="1800" b="1">
                <a:solidFill>
                  <a:srgbClr val="D96B27"/>
                </a:solidFill>
              </a:defRPr>
            </a:pPr>
            <a:r>
              <a:t>報告人 Howard Liao Ph.D.(廖倫豪 博士)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